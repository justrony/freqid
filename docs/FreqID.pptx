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143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1"/>
          <p:cNvSpPr/>
          <p:nvPr/>
        </p:nvSpPr>
        <p:spPr>
          <a:xfrm>
            <a:off x="707231" y="67866"/>
            <a:ext cx="13706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9B7C6"/>
                </a:solidFill>
              </a:rPr>
              <a:t>~/projects/visioncheck/init.sh</a:t>
            </a:r>
            <a:endParaRPr lang="en-US" sz="727" dirty="0"/>
          </a:p>
        </p:txBody>
      </p:sp>
      <p:sp>
        <p:nvSpPr>
          <p:cNvPr id="5" name="Shape 2"/>
          <p:cNvSpPr/>
          <p:nvPr/>
        </p:nvSpPr>
        <p:spPr>
          <a:xfrm>
            <a:off x="1357313" y="791059"/>
            <a:ext cx="6429375" cy="3561355"/>
          </a:xfrm>
          <a:prstGeom prst="rect">
            <a:avLst/>
          </a:prstGeom>
          <a:solidFill>
            <a:srgbClr val="61AFEF">
              <a:alpha val="5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85938" y="1560727"/>
            <a:ext cx="5572125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dirty="0">
                <a:solidFill>
                  <a:srgbClr val="61AFEF"/>
                </a:solidFill>
              </a:rPr>
              <a:t>FreqID</a:t>
            </a:r>
            <a:endParaRPr lang="en-US" sz="4353" dirty="0"/>
          </a:p>
        </p:txBody>
      </p:sp>
      <p:sp>
        <p:nvSpPr>
          <p:cNvPr id="7" name="Text 4"/>
          <p:cNvSpPr/>
          <p:nvPr/>
        </p:nvSpPr>
        <p:spPr>
          <a:xfrm>
            <a:off x="1785938" y="2587907"/>
            <a:ext cx="557212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A9B7C6"/>
                </a:solidFill>
              </a:rPr>
              <a:t>Automação de Frequência Escolar via Reconhecimento Facial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1785938" y="3498735"/>
            <a:ext cx="5572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8C379"/>
                </a:solidFill>
              </a:rPr>
              <a:t>Projeto de MVP para a Secretaria Municipal de Educação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85938" y="3836277"/>
            <a:ext cx="5572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Ronielle de Souza Moreira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01. O Problema e o Objetivo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478533"/>
            <a:ext cx="4000500" cy="3214688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724099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4388" y="1692846"/>
            <a:ext cx="20656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6C75"/>
                </a:solidFill>
              </a:rPr>
              <a:t>Legacy: Chamada Manual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41116"/>
            <a:ext cx="11251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2608" y="2105397"/>
            <a:ext cx="306695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Gargalo de Tempo: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Consome de tempo letivo útil.</a:t>
            </a:r>
            <a:endParaRPr lang="en-US" sz="885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489708"/>
            <a:ext cx="112514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2608" y="2453990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Vulnerabilidade: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Suscetível a erros humanos 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fraudes de presença.</a:t>
            </a:r>
            <a:endParaRPr lang="en-US" sz="94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044019"/>
            <a:ext cx="112514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2608" y="3008300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Dados Estáticos: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Dificuldade de integração com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sistemas de gestão em tempo real.</a:t>
            </a:r>
            <a:endParaRPr lang="en-US" sz="942" dirty="0"/>
          </a:p>
        </p:txBody>
      </p:sp>
      <p:sp>
        <p:nvSpPr>
          <p:cNvPr id="13" name="Shape 6"/>
          <p:cNvSpPr/>
          <p:nvPr/>
        </p:nvSpPr>
        <p:spPr>
          <a:xfrm>
            <a:off x="4714875" y="1478533"/>
            <a:ext cx="4000500" cy="3214688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724099"/>
            <a:ext cx="171450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00638" y="1692846"/>
            <a:ext cx="13095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8C379"/>
                </a:solidFill>
              </a:rPr>
              <a:t>FreqID: Objetivo</a:t>
            </a:r>
            <a:endParaRPr lang="en-US" sz="1269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141116"/>
            <a:ext cx="112514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48858" y="2105397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Automação: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Registro instantâneo de entrada e saída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via biometria facial.</a:t>
            </a:r>
            <a:endParaRPr lang="en-US" sz="942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695426"/>
            <a:ext cx="112514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48858" y="2659707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Integridade: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Garantia de 100% de precisão nos dados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de frequência.</a:t>
            </a:r>
            <a:endParaRPr lang="en-US" sz="942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49737"/>
            <a:ext cx="112514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148858" y="3214018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Modernização: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Integração nativa com o banco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dados da Secretaria de Educação.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02. Stack Tecnológica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14350" y="1621408"/>
            <a:ext cx="1857375" cy="300037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25" y="1907158"/>
            <a:ext cx="355625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4350" y="2578671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Laravel 12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514350" y="2955503"/>
            <a:ext cx="1857375" cy="68580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Backend robusto para gestão de alunos, turmas e geração de relatórios complexos.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1151037" y="3748460"/>
            <a:ext cx="584002" cy="187523"/>
          </a:xfrm>
          <a:prstGeom prst="rect">
            <a:avLst/>
          </a:prstGeom>
          <a:solidFill>
            <a:srgbClr val="61AFEF">
              <a:alpha val="10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51037" y="3748460"/>
            <a:ext cx="584002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PHP / WEB</a:t>
            </a:r>
            <a:endParaRPr lang="en-US" sz="621" dirty="0"/>
          </a:p>
        </p:txBody>
      </p:sp>
      <p:sp>
        <p:nvSpPr>
          <p:cNvPr id="10" name="Shape 6"/>
          <p:cNvSpPr/>
          <p:nvPr/>
        </p:nvSpPr>
        <p:spPr>
          <a:xfrm>
            <a:off x="2600325" y="1621408"/>
            <a:ext cx="1857375" cy="300037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00" y="1907158"/>
            <a:ext cx="355625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00325" y="2578671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Python 3.13</a:t>
            </a:r>
            <a:endParaRPr lang="en-US" sz="1269" dirty="0"/>
          </a:p>
        </p:txBody>
      </p:sp>
      <p:sp>
        <p:nvSpPr>
          <p:cNvPr id="13" name="Text 8"/>
          <p:cNvSpPr/>
          <p:nvPr/>
        </p:nvSpPr>
        <p:spPr>
          <a:xfrm>
            <a:off x="2600325" y="2955503"/>
            <a:ext cx="1857375" cy="68580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Motor de IA utilizando OpenCV e Mediapipe para processamento de visão computacional.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123158" y="3748460"/>
            <a:ext cx="811681" cy="187523"/>
          </a:xfrm>
          <a:prstGeom prst="rect">
            <a:avLst/>
          </a:prstGeom>
          <a:solidFill>
            <a:srgbClr val="61AFEF">
              <a:alpha val="10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123158" y="3748460"/>
            <a:ext cx="811681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DEEP LEARNING</a:t>
            </a:r>
            <a:endParaRPr lang="en-US" sz="621" dirty="0"/>
          </a:p>
        </p:txBody>
      </p:sp>
      <p:sp>
        <p:nvSpPr>
          <p:cNvPr id="16" name="Shape 11"/>
          <p:cNvSpPr/>
          <p:nvPr/>
        </p:nvSpPr>
        <p:spPr>
          <a:xfrm>
            <a:off x="4686300" y="1621408"/>
            <a:ext cx="1857375" cy="300037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963" y="1907158"/>
            <a:ext cx="40005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86300" y="2578671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PostgreSQL</a:t>
            </a:r>
            <a:endParaRPr lang="en-US" sz="1269" dirty="0"/>
          </a:p>
        </p:txBody>
      </p:sp>
      <p:sp>
        <p:nvSpPr>
          <p:cNvPr id="19" name="Text 13"/>
          <p:cNvSpPr/>
          <p:nvPr/>
        </p:nvSpPr>
        <p:spPr>
          <a:xfrm>
            <a:off x="4686300" y="2955503"/>
            <a:ext cx="1857375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Banco de dados relacional para garantir integridade e segurança dos registros.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5330744" y="3577010"/>
            <a:ext cx="568486" cy="187523"/>
          </a:xfrm>
          <a:prstGeom prst="rect">
            <a:avLst/>
          </a:prstGeom>
          <a:solidFill>
            <a:srgbClr val="61AFEF">
              <a:alpha val="10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330744" y="3577010"/>
            <a:ext cx="568486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DATABASE</a:t>
            </a:r>
            <a:endParaRPr lang="en-US" sz="621" dirty="0"/>
          </a:p>
        </p:txBody>
      </p:sp>
      <p:sp>
        <p:nvSpPr>
          <p:cNvPr id="22" name="Shape 16"/>
          <p:cNvSpPr/>
          <p:nvPr/>
        </p:nvSpPr>
        <p:spPr>
          <a:xfrm>
            <a:off x="6772275" y="1621408"/>
            <a:ext cx="1857375" cy="300037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150" y="1907158"/>
            <a:ext cx="355625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72275" y="2578671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Docker</a:t>
            </a:r>
            <a:endParaRPr lang="en-US" sz="1269" dirty="0"/>
          </a:p>
        </p:txBody>
      </p:sp>
      <p:sp>
        <p:nvSpPr>
          <p:cNvPr id="25" name="Text 18"/>
          <p:cNvSpPr/>
          <p:nvPr/>
        </p:nvSpPr>
        <p:spPr>
          <a:xfrm>
            <a:off x="6772275" y="2955503"/>
            <a:ext cx="1857375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Containerização para padronizar o ambiente entre totens e servidores centrais.</a:t>
            </a:r>
            <a:endParaRPr lang="en-US" sz="834" dirty="0"/>
          </a:p>
        </p:txBody>
      </p:sp>
      <p:sp>
        <p:nvSpPr>
          <p:cNvPr id="26" name="Shape 19"/>
          <p:cNvSpPr/>
          <p:nvPr/>
        </p:nvSpPr>
        <p:spPr>
          <a:xfrm>
            <a:off x="7260868" y="3577010"/>
            <a:ext cx="880188" cy="187523"/>
          </a:xfrm>
          <a:prstGeom prst="rect">
            <a:avLst/>
          </a:prstGeom>
          <a:solidFill>
            <a:srgbClr val="61AFEF">
              <a:alpha val="10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260868" y="3577010"/>
            <a:ext cx="880188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INFRASTRUCTURE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03. Análise de Mercado e Diferenciais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478533"/>
            <a:ext cx="8286750" cy="1582341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32197" y="1482105"/>
            <a:ext cx="2161961" cy="346472"/>
          </a:xfrm>
          <a:prstGeom prst="rect">
            <a:avLst/>
          </a:prstGeom>
          <a:solidFill>
            <a:srgbClr val="333333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482105"/>
            <a:ext cx="2161961" cy="346472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Critério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2594158" y="1482105"/>
            <a:ext cx="1847022" cy="346472"/>
          </a:xfrm>
          <a:prstGeom prst="rect">
            <a:avLst/>
          </a:prstGeom>
          <a:solidFill>
            <a:srgbClr val="333333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94158" y="1482105"/>
            <a:ext cx="1847022" cy="346472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Cartão RFID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438417" y="1482105"/>
            <a:ext cx="2617403" cy="346472"/>
          </a:xfrm>
          <a:prstGeom prst="rect">
            <a:avLst/>
          </a:prstGeom>
          <a:solidFill>
            <a:srgbClr val="333333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8417" y="1482105"/>
            <a:ext cx="2617403" cy="346472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Biometria Digital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7053728" y="1482105"/>
            <a:ext cx="1658076" cy="346472"/>
          </a:xfrm>
          <a:prstGeom prst="rect">
            <a:avLst/>
          </a:prstGeom>
          <a:solidFill>
            <a:srgbClr val="98C379">
              <a:alpha val="5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53728" y="1482105"/>
            <a:ext cx="1658076" cy="346472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8C379"/>
                </a:solidFill>
              </a:rPr>
              <a:t>FreqID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32197" y="1821433"/>
            <a:ext cx="2167570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1AFEF"/>
                </a:solidFill>
              </a:rPr>
              <a:t>Velocidade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2599767" y="1821433"/>
            <a:ext cx="184107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Média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440845" y="1821433"/>
            <a:ext cx="2611794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Lenta (Filas)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7052639" y="1821433"/>
            <a:ext cx="1659164" cy="307181"/>
          </a:xfrm>
          <a:prstGeom prst="rect">
            <a:avLst/>
          </a:prstGeom>
          <a:solidFill>
            <a:srgbClr val="98C379">
              <a:alpha val="5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52639" y="1821433"/>
            <a:ext cx="1659164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8C379"/>
                </a:solidFill>
              </a:rPr>
              <a:t>&lt; 2 Segundos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32197" y="2128614"/>
            <a:ext cx="2168965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1AFEF"/>
                </a:solidFill>
              </a:rPr>
              <a:t>Contato Físico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601162" y="2128614"/>
            <a:ext cx="184227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Sim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443440" y="2128614"/>
            <a:ext cx="261346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Sim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7056909" y="2128614"/>
            <a:ext cx="1654894" cy="307181"/>
          </a:xfrm>
          <a:prstGeom prst="rect">
            <a:avLst/>
          </a:prstGeom>
          <a:solidFill>
            <a:srgbClr val="98C379">
              <a:alpha val="5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56909" y="2128614"/>
            <a:ext cx="1654894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8C379"/>
                </a:solidFill>
              </a:rPr>
              <a:t>Não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32197" y="2435796"/>
            <a:ext cx="2168965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1AFEF"/>
                </a:solidFill>
              </a:rPr>
              <a:t>Risco de Perda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2601162" y="2435796"/>
            <a:ext cx="184227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Alto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443440" y="2435796"/>
            <a:ext cx="261346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Nulo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7056909" y="2435796"/>
            <a:ext cx="1654894" cy="307181"/>
          </a:xfrm>
          <a:prstGeom prst="rect">
            <a:avLst/>
          </a:prstGeom>
          <a:solidFill>
            <a:srgbClr val="98C379">
              <a:alpha val="5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56909" y="2435796"/>
            <a:ext cx="1654894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8C379"/>
                </a:solidFill>
              </a:rPr>
              <a:t>Nulo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32197" y="2742977"/>
            <a:ext cx="2168965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1AFEF"/>
                </a:solidFill>
              </a:rPr>
              <a:t>Fraude/Empréstimo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2601162" y="2742977"/>
            <a:ext cx="184227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Fácil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443440" y="2742977"/>
            <a:ext cx="2613468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Difícil</a:t>
            </a:r>
            <a:endParaRPr lang="en-US" sz="834" dirty="0"/>
          </a:p>
        </p:txBody>
      </p:sp>
      <p:sp>
        <p:nvSpPr>
          <p:cNvPr id="31" name="Shape 28"/>
          <p:cNvSpPr/>
          <p:nvPr/>
        </p:nvSpPr>
        <p:spPr>
          <a:xfrm>
            <a:off x="7056909" y="2742977"/>
            <a:ext cx="1654894" cy="307181"/>
          </a:xfrm>
          <a:prstGeom prst="rect">
            <a:avLst/>
          </a:prstGeom>
          <a:solidFill>
            <a:srgbClr val="98C379">
              <a:alpha val="5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56909" y="2742977"/>
            <a:ext cx="1654894" cy="307181"/>
          </a:xfrm>
          <a:prstGeom prst="rect">
            <a:avLst/>
          </a:prstGeom>
          <a:noFill/>
          <a:ln/>
        </p:spPr>
        <p:txBody>
          <a:bodyPr wrap="square" lIns="170053" tIns="170053" rIns="170053" bIns="8509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8C379"/>
                </a:solidFill>
              </a:rPr>
              <a:t>Impossível</a:t>
            </a:r>
            <a:endParaRPr lang="en-US" sz="784" dirty="0"/>
          </a:p>
        </p:txBody>
      </p:sp>
      <p:sp>
        <p:nvSpPr>
          <p:cNvPr id="33" name="Shape 30"/>
          <p:cNvSpPr/>
          <p:nvPr/>
        </p:nvSpPr>
        <p:spPr>
          <a:xfrm>
            <a:off x="428625" y="3339480"/>
            <a:ext cx="3977618" cy="871538"/>
          </a:xfrm>
          <a:prstGeom prst="rect">
            <a:avLst/>
          </a:prstGeom>
          <a:solidFill>
            <a:srgbClr val="61AFEF">
              <a:alpha val="5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1500" y="3482355"/>
            <a:ext cx="36918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1AFEF"/>
                </a:solidFill>
              </a:rPr>
              <a:t>// Performance &amp; UX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571500" y="3771677"/>
            <a:ext cx="369186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O reconhecimento passivo elimina a necessidade de interação direta, permitindo um fluxo contínuo de entrada sem interrupções.</a:t>
            </a:r>
            <a:endParaRPr lang="en-US" sz="834" dirty="0"/>
          </a:p>
        </p:txBody>
      </p:sp>
      <p:sp>
        <p:nvSpPr>
          <p:cNvPr id="36" name="Shape 33"/>
          <p:cNvSpPr/>
          <p:nvPr/>
        </p:nvSpPr>
        <p:spPr>
          <a:xfrm>
            <a:off x="4737757" y="3339480"/>
            <a:ext cx="3977618" cy="871538"/>
          </a:xfrm>
          <a:prstGeom prst="rect">
            <a:avLst/>
          </a:prstGeom>
          <a:solidFill>
            <a:srgbClr val="61AFEF">
              <a:alpha val="5000"/>
            </a:srgbClr>
          </a:solidFill>
          <a:ln w="9144">
            <a:solidFill>
              <a:srgbClr val="61AF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80632" y="3482355"/>
            <a:ext cx="36918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1AFEF"/>
                </a:solidFill>
              </a:rPr>
              <a:t>// Compliance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4880632" y="3771677"/>
            <a:ext cx="369186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Arquitetura projetada sob os pilares da LGPD, garantindo que a biometria facial seja tratada como dado sensível criptografado.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04. Deep Learning e Privacidade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478533"/>
            <a:ext cx="4000500" cy="3214688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724099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692846"/>
            <a:ext cx="2479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Motor de Visão Computacional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41116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2233985"/>
            <a:ext cx="33361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Modelos de Deep Learning: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Uso de redes neurais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convolucionais para extração de landmarks faciais.</a:t>
            </a:r>
            <a:endParaRPr lang="en-US" sz="885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952601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78681" y="3045470"/>
            <a:ext cx="33361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Robustez: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Identificação precisa sob variações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iluminação, uso de óculos ou máscaras.</a:t>
            </a:r>
            <a:endParaRPr lang="en-US" sz="885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764087"/>
            <a:ext cx="96441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46534" y="3728368"/>
            <a:ext cx="336827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Performance: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Inferência local otimizada para resposta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em menos de 2 segundos.</a:t>
            </a:r>
            <a:endParaRPr lang="en-US" sz="942" dirty="0"/>
          </a:p>
        </p:txBody>
      </p:sp>
      <p:sp>
        <p:nvSpPr>
          <p:cNvPr id="13" name="Shape 6"/>
          <p:cNvSpPr/>
          <p:nvPr/>
        </p:nvSpPr>
        <p:spPr>
          <a:xfrm>
            <a:off x="4714875" y="1478533"/>
            <a:ext cx="4000500" cy="3214688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724099"/>
            <a:ext cx="171450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07794" y="1692846"/>
            <a:ext cx="16445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Conformidade LGPD</a:t>
            </a:r>
            <a:endParaRPr lang="en-US" sz="1269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141116"/>
            <a:ext cx="112514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48858" y="2233985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Anonimização: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Armazenamento apenas de hashes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biométricos (vetores numéricos).</a:t>
            </a:r>
            <a:endParaRPr lang="en-US" sz="885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952601"/>
            <a:ext cx="112514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48858" y="2916882"/>
            <a:ext cx="335220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Criptografia: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Dados sensíveis protegidos via AES-256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em repouso e TLS em trânsito.</a:t>
            </a:r>
            <a:endParaRPr lang="en-US" sz="942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506912"/>
            <a:ext cx="96441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132784" y="3599780"/>
            <a:ext cx="336827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Governança: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 Logs de acesso e controle de permissões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rigoroso para stakeholders.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05. Escopo do MVP: Requisitos Funcionais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585689"/>
            <a:ext cx="8286750" cy="785813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933054"/>
            <a:ext cx="714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6C75"/>
                </a:solidFill>
              </a:rPr>
              <a:t>RF01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1357313" y="1857152"/>
            <a:ext cx="6786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Cadastro Biométrico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57313" y="2087538"/>
            <a:ext cx="6786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Cadastro de alunos com captura de fotos para registro de landmarks.</a:t>
            </a:r>
            <a:endParaRPr lang="en-US" sz="83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1964308"/>
            <a:ext cx="214313" cy="1714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8625" y="2478658"/>
            <a:ext cx="8286750" cy="785813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2938" y="2826023"/>
            <a:ext cx="714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6C75"/>
                </a:solidFill>
              </a:rPr>
              <a:t>RF02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1357313" y="2750121"/>
            <a:ext cx="68079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Identificação em Tempo Real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357313" y="2980506"/>
            <a:ext cx="68079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Reconhecimento facial automático nas entradas das escolas.</a:t>
            </a:r>
            <a:endParaRPr lang="en-US" sz="834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181" y="2857277"/>
            <a:ext cx="192881" cy="1714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8625" y="3371627"/>
            <a:ext cx="8286750" cy="785813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2938" y="3718992"/>
            <a:ext cx="714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6C75"/>
                </a:solidFill>
              </a:rPr>
              <a:t>RF03</a:t>
            </a:r>
            <a:endParaRPr lang="en-US" sz="1269" dirty="0"/>
          </a:p>
        </p:txBody>
      </p:sp>
      <p:sp>
        <p:nvSpPr>
          <p:cNvPr id="16" name="Text 11"/>
          <p:cNvSpPr/>
          <p:nvPr/>
        </p:nvSpPr>
        <p:spPr>
          <a:xfrm>
            <a:off x="1357313" y="3643089"/>
            <a:ext cx="68294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Registro de Frequência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357313" y="3873475"/>
            <a:ext cx="68294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Log automático de data/hora de entrada e saída vinculado ao ID do aluno.</a:t>
            </a:r>
            <a:endParaRPr lang="en-US" sz="83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613" y="3750246"/>
            <a:ext cx="171450" cy="1714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8625" y="4264596"/>
            <a:ext cx="8286750" cy="785813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2938" y="4611960"/>
            <a:ext cx="714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6C75"/>
                </a:solidFill>
              </a:rPr>
              <a:t>RF04</a:t>
            </a:r>
            <a:endParaRPr lang="en-US" sz="1269" dirty="0"/>
          </a:p>
        </p:txBody>
      </p:sp>
      <p:sp>
        <p:nvSpPr>
          <p:cNvPr id="21" name="Text 15"/>
          <p:cNvSpPr/>
          <p:nvPr/>
        </p:nvSpPr>
        <p:spPr>
          <a:xfrm>
            <a:off x="1357313" y="4536058"/>
            <a:ext cx="68294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Dashboard de Monitoramento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357313" y="4766444"/>
            <a:ext cx="68294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Painel administrativo para visualização de status e geração de relatórios.</a:t>
            </a:r>
            <a:endParaRPr lang="en-US" sz="834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613" y="4643214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06. Requisitos Não Funcionais (RNFs)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478533"/>
            <a:ext cx="4036219" cy="157162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687488"/>
            <a:ext cx="176808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745" y="1657127"/>
            <a:ext cx="10297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Desempenho</a:t>
            </a:r>
            <a:endParaRPr lang="en-US" sz="1159" dirty="0"/>
          </a:p>
        </p:txBody>
      </p:sp>
      <p:sp>
        <p:nvSpPr>
          <p:cNvPr id="7" name="Shape 3"/>
          <p:cNvSpPr/>
          <p:nvPr/>
        </p:nvSpPr>
        <p:spPr>
          <a:xfrm>
            <a:off x="3860890" y="1670521"/>
            <a:ext cx="389641" cy="187523"/>
          </a:xfrm>
          <a:prstGeom prst="rect">
            <a:avLst/>
          </a:prstGeom>
          <a:solidFill>
            <a:srgbClr val="98C379">
              <a:alpha val="10000"/>
            </a:srgbClr>
          </a:solidFill>
          <a:ln w="9144">
            <a:solidFill>
              <a:srgbClr val="98C37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860890" y="1670521"/>
            <a:ext cx="38964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RNF01</a:t>
            </a:r>
            <a:endParaRPr lang="en-US" sz="621" dirty="0"/>
          </a:p>
        </p:txBody>
      </p:sp>
      <p:sp>
        <p:nvSpPr>
          <p:cNvPr id="9" name="Text 5"/>
          <p:cNvSpPr/>
          <p:nvPr/>
        </p:nvSpPr>
        <p:spPr>
          <a:xfrm>
            <a:off x="642938" y="1978596"/>
            <a:ext cx="36075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61AFEF"/>
                </a:solidFill>
              </a:rPr>
              <a:t>&lt; 2.0s</a:t>
            </a:r>
            <a:endParaRPr lang="en-US" sz="1704" dirty="0"/>
          </a:p>
        </p:txBody>
      </p:sp>
      <p:sp>
        <p:nvSpPr>
          <p:cNvPr id="10" name="Text 6"/>
          <p:cNvSpPr/>
          <p:nvPr/>
        </p:nvSpPr>
        <p:spPr>
          <a:xfrm>
            <a:off x="642938" y="2362572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O tempo total de reconhecimento e registro não deve ultrapassar 2 segundos por aluno.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679156" y="1478533"/>
            <a:ext cx="4036219" cy="157162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687488"/>
            <a:ext cx="157163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50631" y="1657127"/>
            <a:ext cx="8202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Segurança</a:t>
            </a:r>
            <a:endParaRPr lang="en-US" sz="1159" dirty="0"/>
          </a:p>
        </p:txBody>
      </p:sp>
      <p:sp>
        <p:nvSpPr>
          <p:cNvPr id="14" name="Shape 9"/>
          <p:cNvSpPr/>
          <p:nvPr/>
        </p:nvSpPr>
        <p:spPr>
          <a:xfrm>
            <a:off x="8111421" y="1670521"/>
            <a:ext cx="389641" cy="187523"/>
          </a:xfrm>
          <a:prstGeom prst="rect">
            <a:avLst/>
          </a:prstGeom>
          <a:solidFill>
            <a:srgbClr val="98C379">
              <a:alpha val="10000"/>
            </a:srgbClr>
          </a:solidFill>
          <a:ln w="9144">
            <a:solidFill>
              <a:srgbClr val="98C37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11421" y="1670521"/>
            <a:ext cx="38964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RNF02</a:t>
            </a:r>
            <a:endParaRPr lang="en-US" sz="621" dirty="0"/>
          </a:p>
        </p:txBody>
      </p:sp>
      <p:sp>
        <p:nvSpPr>
          <p:cNvPr id="16" name="Text 11"/>
          <p:cNvSpPr/>
          <p:nvPr/>
        </p:nvSpPr>
        <p:spPr>
          <a:xfrm>
            <a:off x="4893469" y="1978596"/>
            <a:ext cx="36075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61AFEF"/>
                </a:solidFill>
              </a:rPr>
              <a:t>LGPD Compliant</a:t>
            </a:r>
            <a:endParaRPr lang="en-US" sz="1704" dirty="0"/>
          </a:p>
        </p:txBody>
      </p:sp>
      <p:sp>
        <p:nvSpPr>
          <p:cNvPr id="17" name="Text 12"/>
          <p:cNvSpPr/>
          <p:nvPr/>
        </p:nvSpPr>
        <p:spPr>
          <a:xfrm>
            <a:off x="4893469" y="2362572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Dados biométricos criptografados (AES-256) e anonimização de imagens após processamento.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28625" y="3264471"/>
            <a:ext cx="4036219" cy="157162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473425"/>
            <a:ext cx="196453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391" y="3443064"/>
            <a:ext cx="10842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Escalabilidade</a:t>
            </a:r>
            <a:endParaRPr lang="en-US" sz="1159" dirty="0"/>
          </a:p>
        </p:txBody>
      </p:sp>
      <p:sp>
        <p:nvSpPr>
          <p:cNvPr id="21" name="Shape 15"/>
          <p:cNvSpPr/>
          <p:nvPr/>
        </p:nvSpPr>
        <p:spPr>
          <a:xfrm>
            <a:off x="3860890" y="3456459"/>
            <a:ext cx="389641" cy="187523"/>
          </a:xfrm>
          <a:prstGeom prst="rect">
            <a:avLst/>
          </a:prstGeom>
          <a:solidFill>
            <a:srgbClr val="98C379">
              <a:alpha val="10000"/>
            </a:srgbClr>
          </a:solidFill>
          <a:ln w="9144">
            <a:solidFill>
              <a:srgbClr val="98C379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860890" y="3456459"/>
            <a:ext cx="38964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RNF03</a:t>
            </a:r>
            <a:endParaRPr lang="en-US" sz="621" dirty="0"/>
          </a:p>
        </p:txBody>
      </p:sp>
      <p:sp>
        <p:nvSpPr>
          <p:cNvPr id="23" name="Text 17"/>
          <p:cNvSpPr/>
          <p:nvPr/>
        </p:nvSpPr>
        <p:spPr>
          <a:xfrm>
            <a:off x="642938" y="3764533"/>
            <a:ext cx="36075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61AFEF"/>
                </a:solidFill>
              </a:rPr>
              <a:t>Multi-Tenant</a:t>
            </a:r>
            <a:endParaRPr lang="en-US" sz="1704" dirty="0"/>
          </a:p>
        </p:txBody>
      </p:sp>
      <p:sp>
        <p:nvSpPr>
          <p:cNvPr id="24" name="Text 18"/>
          <p:cNvSpPr/>
          <p:nvPr/>
        </p:nvSpPr>
        <p:spPr>
          <a:xfrm>
            <a:off x="642938" y="4148510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Arquitetura preparada para suportar o acesso simultâneo de todas as escolas da rede municipal.</a:t>
            </a:r>
            <a:endParaRPr lang="en-US" sz="834" dirty="0"/>
          </a:p>
        </p:txBody>
      </p:sp>
      <p:sp>
        <p:nvSpPr>
          <p:cNvPr id="25" name="Shape 19"/>
          <p:cNvSpPr/>
          <p:nvPr/>
        </p:nvSpPr>
        <p:spPr>
          <a:xfrm>
            <a:off x="4679156" y="3264471"/>
            <a:ext cx="4036219" cy="1571625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473425"/>
            <a:ext cx="157163" cy="15716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50631" y="3443064"/>
            <a:ext cx="11892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Disponibilidade</a:t>
            </a:r>
            <a:endParaRPr lang="en-US" sz="1159" dirty="0"/>
          </a:p>
        </p:txBody>
      </p:sp>
      <p:sp>
        <p:nvSpPr>
          <p:cNvPr id="28" name="Shape 21"/>
          <p:cNvSpPr/>
          <p:nvPr/>
        </p:nvSpPr>
        <p:spPr>
          <a:xfrm>
            <a:off x="8111421" y="3456459"/>
            <a:ext cx="389641" cy="187523"/>
          </a:xfrm>
          <a:prstGeom prst="rect">
            <a:avLst/>
          </a:prstGeom>
          <a:solidFill>
            <a:srgbClr val="98C379">
              <a:alpha val="10000"/>
            </a:srgbClr>
          </a:solidFill>
          <a:ln w="9144">
            <a:solidFill>
              <a:srgbClr val="98C37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11421" y="3456459"/>
            <a:ext cx="38964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RNF04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4893469" y="3764533"/>
            <a:ext cx="36075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61AFEF"/>
                </a:solidFill>
              </a:rPr>
              <a:t>99.9% SLA</a:t>
            </a:r>
            <a:endParaRPr lang="en-US" sz="1704" dirty="0"/>
          </a:p>
        </p:txBody>
      </p:sp>
      <p:sp>
        <p:nvSpPr>
          <p:cNvPr id="31" name="Text 24"/>
          <p:cNvSpPr/>
          <p:nvPr/>
        </p:nvSpPr>
        <p:spPr>
          <a:xfrm>
            <a:off x="4893469" y="4148510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Garantia de operação contínua durante todo o horário letivo das instituições.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07. Arquitetura e Fluxo de Dados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657225" y="1764283"/>
            <a:ext cx="157162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56" y="1978596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225" y="2464371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Captura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57225" y="2766194"/>
            <a:ext cx="1571625" cy="420002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9B7C6"/>
                </a:solidFill>
              </a:rPr>
              <a:t>Leitores com câmera capturam frames em tempo real nos acessos.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657225" y="3293352"/>
            <a:ext cx="1571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Totem / Real-time</a:t>
            </a:r>
            <a:endParaRPr lang="en-US" sz="621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2650108"/>
            <a:ext cx="228600" cy="228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743200" y="1764283"/>
            <a:ext cx="157162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63" y="1978596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43200" y="2464371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Processamento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2743200" y="2766194"/>
            <a:ext cx="1571625" cy="280002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9B7C6"/>
                </a:solidFill>
              </a:rPr>
              <a:t>Motor de IA identifica faces e valida hash biométrico.</a:t>
            </a:r>
            <a:endParaRPr lang="en-US" sz="727" dirty="0"/>
          </a:p>
        </p:txBody>
      </p:sp>
      <p:sp>
        <p:nvSpPr>
          <p:cNvPr id="14" name="Text 8"/>
          <p:cNvSpPr/>
          <p:nvPr/>
        </p:nvSpPr>
        <p:spPr>
          <a:xfrm>
            <a:off x="2743200" y="3153352"/>
            <a:ext cx="1571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Python / OpenCV</a:t>
            </a:r>
            <a:endParaRPr lang="en-US" sz="621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650108"/>
            <a:ext cx="228600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829175" y="1764283"/>
            <a:ext cx="157162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538" y="1978596"/>
            <a:ext cx="342900" cy="342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29175" y="2464371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Persistência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4829175" y="2766194"/>
            <a:ext cx="1571625" cy="420002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9B7C6"/>
                </a:solidFill>
              </a:rPr>
              <a:t>Backend valida o ID e registra a frequência no banco.</a:t>
            </a:r>
            <a:endParaRPr lang="en-US" sz="727" dirty="0"/>
          </a:p>
        </p:txBody>
      </p:sp>
      <p:sp>
        <p:nvSpPr>
          <p:cNvPr id="20" name="Text 12"/>
          <p:cNvSpPr/>
          <p:nvPr/>
        </p:nvSpPr>
        <p:spPr>
          <a:xfrm>
            <a:off x="4829175" y="3293352"/>
            <a:ext cx="1571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Laravel / Postgres</a:t>
            </a:r>
            <a:endParaRPr lang="en-US" sz="621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650108"/>
            <a:ext cx="228600" cy="2286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915150" y="1764283"/>
            <a:ext cx="157162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0944" y="1978596"/>
            <a:ext cx="300038" cy="3429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15150" y="2464371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Monitoramento</a:t>
            </a:r>
            <a:endParaRPr lang="en-US" sz="1050" dirty="0"/>
          </a:p>
        </p:txBody>
      </p:sp>
      <p:sp>
        <p:nvSpPr>
          <p:cNvPr id="25" name="Text 15"/>
          <p:cNvSpPr/>
          <p:nvPr/>
        </p:nvSpPr>
        <p:spPr>
          <a:xfrm>
            <a:off x="6915150" y="2766194"/>
            <a:ext cx="1571625" cy="280002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9B7C6"/>
                </a:solidFill>
              </a:rPr>
              <a:t>Dashboard atualiza e envia logs à gestão.</a:t>
            </a:r>
            <a:endParaRPr lang="en-US" sz="727" dirty="0"/>
          </a:p>
        </p:txBody>
      </p:sp>
      <p:sp>
        <p:nvSpPr>
          <p:cNvPr id="26" name="Text 16"/>
          <p:cNvSpPr/>
          <p:nvPr/>
        </p:nvSpPr>
        <p:spPr>
          <a:xfrm>
            <a:off x="6915150" y="3153352"/>
            <a:ext cx="1571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8C379"/>
                </a:solidFill>
              </a:rPr>
              <a:t>WebSockets / API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08. Roadmap de Implementação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714375" y="1907158"/>
            <a:ext cx="7715250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7171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01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428625" y="2384003"/>
            <a:ext cx="242887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2526878"/>
            <a:ext cx="2143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// Foundation</a:t>
            </a:r>
            <a:endParaRPr lang="en-US" sz="621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78696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1525" y="2750121"/>
            <a:ext cx="19431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Modelagem do banco de dados (PostgreSQL).</a:t>
            </a:r>
            <a:endParaRPr lang="en-US" sz="83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6605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1525" y="3168030"/>
            <a:ext cx="194310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captura de imagem e Indetificação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de landmarks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(OpenCV e MediaPipe).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69891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1525" y="3741316"/>
            <a:ext cx="14421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Setup do ambiente Docker.</a:t>
            </a:r>
            <a:endParaRPr lang="en-US" sz="834" dirty="0"/>
          </a:p>
        </p:txBody>
      </p:sp>
      <p:sp>
        <p:nvSpPr>
          <p:cNvPr id="14" name="Text 8"/>
          <p:cNvSpPr/>
          <p:nvPr/>
        </p:nvSpPr>
        <p:spPr>
          <a:xfrm>
            <a:off x="3357563" y="2007171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02</a:t>
            </a:r>
            <a:endParaRPr lang="en-US" sz="1269" dirty="0"/>
          </a:p>
        </p:txBody>
      </p:sp>
      <p:sp>
        <p:nvSpPr>
          <p:cNvPr id="15" name="Shape 9"/>
          <p:cNvSpPr/>
          <p:nvPr/>
        </p:nvSpPr>
        <p:spPr>
          <a:xfrm>
            <a:off x="3357563" y="2384003"/>
            <a:ext cx="242887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500438" y="2526878"/>
            <a:ext cx="2143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// Development</a:t>
            </a:r>
            <a:endParaRPr lang="en-US" sz="621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8" y="2778696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00463" y="2750121"/>
            <a:ext cx="19431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Desenvolvimento da API Laravel (Auth/CRUD).</a:t>
            </a:r>
            <a:endParaRPr lang="en-US" sz="834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38" y="3196605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700463" y="3168030"/>
            <a:ext cx="19431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Integração do motor Python via REST API.</a:t>
            </a:r>
            <a:endParaRPr lang="en-US" sz="834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38" y="3614514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700463" y="3585939"/>
            <a:ext cx="19431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Criação do Dashboard administrativo.</a:t>
            </a:r>
            <a:endParaRPr lang="en-US" sz="834" dirty="0"/>
          </a:p>
        </p:txBody>
      </p:sp>
      <p:sp>
        <p:nvSpPr>
          <p:cNvPr id="23" name="Text 14"/>
          <p:cNvSpPr/>
          <p:nvPr/>
        </p:nvSpPr>
        <p:spPr>
          <a:xfrm>
            <a:off x="6286500" y="2007171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03</a:t>
            </a:r>
            <a:endParaRPr lang="en-US" sz="1269" dirty="0"/>
          </a:p>
        </p:txBody>
      </p:sp>
      <p:sp>
        <p:nvSpPr>
          <p:cNvPr id="24" name="Shape 15"/>
          <p:cNvSpPr/>
          <p:nvPr/>
        </p:nvSpPr>
        <p:spPr>
          <a:xfrm>
            <a:off x="6286500" y="2384003"/>
            <a:ext cx="2428875" cy="200025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6429375" y="2526878"/>
            <a:ext cx="2143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// Quality &amp; Launch</a:t>
            </a:r>
            <a:endParaRPr lang="en-US" sz="621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778696"/>
            <a:ext cx="88906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04006" y="2750121"/>
            <a:ext cx="196849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Testes de carga e stress em ambiente simulado.</a:t>
            </a:r>
            <a:endParaRPr lang="en-US" sz="834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3196605"/>
            <a:ext cx="88906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604006" y="3168030"/>
            <a:ext cx="196849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Homologação do MVP com usuários reais.</a:t>
            </a:r>
            <a:endParaRPr lang="en-US" sz="834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614514"/>
            <a:ext cx="88906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604006" y="3585939"/>
            <a:ext cx="196849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9B7C6"/>
                </a:solidFill>
              </a:rPr>
              <a:t>Ajustes finais de UX e documentação técnica.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477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61AFEF"/>
                </a:solidFill>
              </a:rPr>
              <a:t>09. Conclusão e Visão de Futuro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478533"/>
            <a:ext cx="4000500" cy="228600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724099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692846"/>
            <a:ext cx="13284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Impacto do MVP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098253"/>
            <a:ext cx="114300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2963" y="2069678"/>
            <a:ext cx="3371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Redução drástica do tempo administrativo para professores.</a:t>
            </a:r>
            <a:endParaRPr lang="en-US" sz="94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591172"/>
            <a:ext cx="114300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42963" y="2562597"/>
            <a:ext cx="334084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Aumento da segurança e controle de acesso estudantil.</a:t>
            </a:r>
            <a:endParaRPr lang="en-US" sz="94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891210"/>
            <a:ext cx="114300" cy="114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42963" y="2862635"/>
            <a:ext cx="311735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Dados precisos para políticas públicas de educação.</a:t>
            </a:r>
            <a:endParaRPr lang="en-US" sz="942" dirty="0"/>
          </a:p>
        </p:txBody>
      </p:sp>
      <p:sp>
        <p:nvSpPr>
          <p:cNvPr id="13" name="Shape 6"/>
          <p:cNvSpPr/>
          <p:nvPr/>
        </p:nvSpPr>
        <p:spPr>
          <a:xfrm>
            <a:off x="4714875" y="1478533"/>
            <a:ext cx="4000500" cy="2286000"/>
          </a:xfrm>
          <a:prstGeom prst="rect">
            <a:avLst/>
          </a:prstGeom>
          <a:solidFill>
            <a:srgbClr val="252525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724099"/>
            <a:ext cx="128588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64931" y="1692846"/>
            <a:ext cx="134709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Próximos Passos</a:t>
            </a:r>
            <a:endParaRPr lang="en-US" sz="1269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205410"/>
            <a:ext cx="100013" cy="1143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14925" y="2176835"/>
            <a:ext cx="28482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9B7C6"/>
                </a:solidFill>
              </a:rPr>
              <a:t>Integração com sistemas de transporte escolar.</a:t>
            </a:r>
            <a:endParaRPr lang="en-US" sz="942" dirty="0"/>
          </a:p>
        </p:txBody>
      </p:sp>
      <p:sp>
        <p:nvSpPr>
          <p:cNvPr id="18" name="Text 9"/>
          <p:cNvSpPr/>
          <p:nvPr/>
        </p:nvSpPr>
        <p:spPr>
          <a:xfrm>
            <a:off x="428625" y="4050283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24" dirty="0">
                <a:solidFill>
                  <a:srgbClr val="98C379"/>
                </a:solidFill>
              </a:rPr>
              <a:t>return "Obrigado!";</a:t>
            </a:r>
            <a:endParaRPr lang="en-US" sz="1924" dirty="0"/>
          </a:p>
        </p:txBody>
      </p:sp>
      <p:sp>
        <p:nvSpPr>
          <p:cNvPr id="19" name="Text 10"/>
          <p:cNvSpPr/>
          <p:nvPr/>
        </p:nvSpPr>
        <p:spPr>
          <a:xfrm>
            <a:off x="428625" y="4471764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C6370"/>
                </a:solidFill>
              </a:rPr>
              <a:t>Dúvidas? Perguntas? Feedback?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2026-02-12T23:43:43Z</dcterms:created>
  <dcterms:modified xsi:type="dcterms:W3CDTF">2026-02-12T23:43:43Z</dcterms:modified>
</cp:coreProperties>
</file>